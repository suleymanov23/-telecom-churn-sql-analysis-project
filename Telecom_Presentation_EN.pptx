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ppt/charts/chart9.xml" ContentType="application/vnd.openxmlformats-officedocument.drawingml.chart+xml"/>
  <Override PartName="/ppt/notesSlides/notesSlide11.xml" ContentType="application/vnd.openxmlformats-officedocument.presentationml.notesSlide+xml"/>
  <Override PartName="/ppt/charts/chart10.xml" ContentType="application/vnd.openxmlformats-officedocument.drawingml.chart+xml"/>
  <Override PartName="/ppt/notesSlides/notesSlide12.xml" ContentType="application/vnd.openxmlformats-officedocument.presentationml.notesSlide+xml"/>
  <Override PartName="/ppt/charts/chart11.xml" ContentType="application/vnd.openxmlformats-officedocument.drawingml.chart+xml"/>
  <Override PartName="/ppt/notesSlides/notesSlide13.xml" ContentType="application/vnd.openxmlformats-officedocument.presentationml.notesSlide+xml"/>
  <Override PartName="/ppt/charts/chart1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</c:v>
                </c:pt>
              </c:strCache>
            </c:strRef>
          </c:tx>
          <c:spPr>
            <a:solidFill>
              <a:srgbClr val="2E9599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Mingachevir</c:v>
                </c:pt>
                <c:pt idx="1">
                  <c:v>Sumqayit</c:v>
                </c:pt>
                <c:pt idx="2">
                  <c:v>Baku</c:v>
                </c:pt>
                <c:pt idx="3">
                  <c:v>Ganja</c:v>
                </c:pt>
                <c:pt idx="4">
                  <c:v>Yevlakh</c:v>
                </c:pt>
                <c:pt idx="5">
                  <c:v>Nakhchivan</c:v>
                </c:pt>
                <c:pt idx="6">
                  <c:v>Lankaran</c:v>
                </c:pt>
                <c:pt idx="7">
                  <c:v>Sheki</c:v>
                </c:pt>
                <c:pt idx="8">
                  <c:v>Shirvan</c:v>
                </c:pt>
                <c:pt idx="9">
                  <c:v>Khankendi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</c:v>
                </c:pt>
                <c:pt idx="1">
                  <c:v>7</c:v>
                </c:pt>
                <c:pt idx="2">
                  <c:v>7</c:v>
                </c:pt>
                <c:pt idx="3">
                  <c:v>6</c:v>
                </c:pt>
                <c:pt idx="4">
                  <c:v>5</c:v>
                </c:pt>
                <c:pt idx="5">
                  <c:v>5</c:v>
                </c:pt>
                <c:pt idx="6">
                  <c:v>4</c:v>
                </c:pt>
                <c:pt idx="7">
                  <c:v>4</c:v>
                </c:pt>
                <c:pt idx="8">
                  <c:v>3</c:v>
                </c:pt>
                <c:pt idx="9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DD-4A6B-BA88-20489C9910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Suspended</c:v>
                </c:pt>
              </c:strCache>
            </c:strRef>
          </c:tx>
          <c:spPr>
            <a:solidFill>
              <a:srgbClr val="F2C14E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Mingachevir</c:v>
                </c:pt>
                <c:pt idx="1">
                  <c:v>Sumqayit</c:v>
                </c:pt>
                <c:pt idx="2">
                  <c:v>Baku</c:v>
                </c:pt>
                <c:pt idx="3">
                  <c:v>Ganja</c:v>
                </c:pt>
                <c:pt idx="4">
                  <c:v>Yevlakh</c:v>
                </c:pt>
                <c:pt idx="5">
                  <c:v>Nakhchivan</c:v>
                </c:pt>
                <c:pt idx="6">
                  <c:v>Lankaran</c:v>
                </c:pt>
                <c:pt idx="7">
                  <c:v>Sheki</c:v>
                </c:pt>
                <c:pt idx="8">
                  <c:v>Shirvan</c:v>
                </c:pt>
                <c:pt idx="9">
                  <c:v>Khankendi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0</c:v>
                </c:pt>
                <c:pt idx="3">
                  <c:v>4</c:v>
                </c:pt>
                <c:pt idx="4">
                  <c:v>2</c:v>
                </c:pt>
                <c:pt idx="5">
                  <c:v>3</c:v>
                </c:pt>
                <c:pt idx="6">
                  <c:v>2</c:v>
                </c:pt>
                <c:pt idx="7">
                  <c:v>3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ADD-4A6B-BA88-20489C99100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Churned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Mingachevir</c:v>
                </c:pt>
                <c:pt idx="1">
                  <c:v>Sumqayit</c:v>
                </c:pt>
                <c:pt idx="2">
                  <c:v>Baku</c:v>
                </c:pt>
                <c:pt idx="3">
                  <c:v>Ganja</c:v>
                </c:pt>
                <c:pt idx="4">
                  <c:v>Yevlakh</c:v>
                </c:pt>
                <c:pt idx="5">
                  <c:v>Nakhchivan</c:v>
                </c:pt>
                <c:pt idx="6">
                  <c:v>Lankaran</c:v>
                </c:pt>
                <c:pt idx="7">
                  <c:v>Sheki</c:v>
                </c:pt>
                <c:pt idx="8">
                  <c:v>Shirvan</c:v>
                </c:pt>
                <c:pt idx="9">
                  <c:v>Khankendi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  <c:pt idx="4">
                  <c:v>2</c:v>
                </c:pt>
                <c:pt idx="5">
                  <c:v>1</c:v>
                </c:pt>
                <c:pt idx="6">
                  <c:v>2</c:v>
                </c:pt>
                <c:pt idx="7">
                  <c:v>0</c:v>
                </c:pt>
                <c:pt idx="8">
                  <c:v>2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ADD-4A6B-BA88-20489C9910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8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C85-4FA0-8AE9-2B41EFF8F2E2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C85-4FA0-8AE9-2B41EFF8F2E2}"/>
              </c:ext>
            </c:extLst>
          </c:dPt>
          <c:dPt>
            <c:idx val="2"/>
            <c:bubble3D val="0"/>
            <c:spPr>
              <a:solidFill>
                <a:srgbClr val="2E95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C85-4FA0-8AE9-2B41EFF8F2E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az-Latn-AZ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C85-4FA0-8AE9-2B41EFF8F2E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az-Latn-AZ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C85-4FA0-8AE9-2B41EFF8F2E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az-Latn-AZ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C85-4FA0-8AE9-2B41EFF8F2E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az-Latn-AZ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Middle-Aged (25-50)</c:v>
                </c:pt>
                <c:pt idx="1">
                  <c:v>Senior (&gt;50)</c:v>
                </c:pt>
                <c:pt idx="2">
                  <c:v>Youth (&lt;25)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33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C85-4FA0-8AE9-2B41EFF8F2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Subscribers</c:v>
                </c:pt>
              </c:strCache>
            </c:strRef>
          </c:tx>
          <c:spPr>
            <a:ln w="38100" cap="flat">
              <a:solidFill>
                <a:srgbClr val="2E75B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F3864"/>
                    </a:solidFill>
                    <a:latin typeface="Arial"/>
                  </a:defRPr>
                </a:pPr>
                <a:endParaRPr lang="az-Latn-AZ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</c:v>
                </c:pt>
                <c:pt idx="1">
                  <c:v>14</c:v>
                </c:pt>
                <c:pt idx="2">
                  <c:v>11</c:v>
                </c:pt>
                <c:pt idx="3">
                  <c:v>16</c:v>
                </c:pt>
                <c:pt idx="4">
                  <c:v>18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A85-4AC5-B337-217655EE259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Tenure (years)</c:v>
                </c:pt>
              </c:strCache>
            </c:strRef>
          </c:tx>
          <c:spPr>
            <a:solidFill>
              <a:srgbClr val="F2C14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2C1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07E-4F6F-A555-22A2D82C7971}"/>
              </c:ext>
            </c:extLst>
          </c:dPt>
          <c:dPt>
            <c:idx val="1"/>
            <c:invertIfNegative val="0"/>
            <c:bubble3D val="0"/>
            <c:spPr>
              <a:solidFill>
                <a:srgbClr val="C0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07E-4F6F-A555-22A2D82C7971}"/>
              </c:ext>
            </c:extLst>
          </c:dPt>
          <c:dPt>
            <c:idx val="2"/>
            <c:invertIfNegative val="0"/>
            <c:bubble3D val="0"/>
            <c:spPr>
              <a:solidFill>
                <a:srgbClr val="2E95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07E-4F6F-A555-22A2D82C7971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az-Latn-A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Suspended</c:v>
                </c:pt>
                <c:pt idx="1">
                  <c:v>Churned</c:v>
                </c:pt>
                <c:pt idx="2">
                  <c:v>Active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3.5</c:v>
                </c:pt>
                <c:pt idx="1">
                  <c:v>3.3</c:v>
                </c:pt>
                <c:pt idx="2">
                  <c:v>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07E-4F6F-A555-22A2D82C79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az-Latn-A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Middle-Aged</c:v>
                </c:pt>
                <c:pt idx="1">
                  <c:v>Youth</c:v>
                </c:pt>
                <c:pt idx="2">
                  <c:v>Senior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17.5</c:v>
                </c:pt>
                <c:pt idx="1">
                  <c:v>14.3</c:v>
                </c:pt>
                <c:pt idx="2">
                  <c:v>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0D-4B19-8EBE-0E8EB9109D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95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43E-4381-A030-86BD15F56C89}"/>
              </c:ext>
            </c:extLst>
          </c:dPt>
          <c:dPt>
            <c:idx val="1"/>
            <c:bubble3D val="0"/>
            <c:spPr>
              <a:solidFill>
                <a:srgbClr val="F2C1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43E-4381-A030-86BD15F56C89}"/>
              </c:ext>
            </c:extLst>
          </c:dPt>
          <c:dPt>
            <c:idx val="2"/>
            <c:bubble3D val="0"/>
            <c:spPr>
              <a:solidFill>
                <a:srgbClr val="C0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43E-4381-A030-86BD15F56C8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az-Latn-AZ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43E-4381-A030-86BD15F56C8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az-Latn-AZ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43E-4381-A030-86BD15F56C8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az-Latn-AZ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43E-4381-A030-86BD15F56C8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az-Latn-AZ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Active</c:v>
                </c:pt>
                <c:pt idx="1">
                  <c:v>Suspended</c:v>
                </c:pt>
                <c:pt idx="2">
                  <c:v>Churned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</c:v>
                </c:pt>
                <c:pt idx="1">
                  <c:v>19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43E-4381-A030-86BD15F56C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E1B-4F97-8D0D-648E5A40D21E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E1B-4F97-8D0D-648E5A40D21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az-Latn-AZ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E1B-4F97-8D0D-648E5A40D21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az-Latn-AZ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E1B-4F97-8D0D-648E5A40D21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az-Latn-AZ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</c:v>
                </c:pt>
                <c:pt idx="1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E1B-4F97-8D0D-648E5A40D2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Talk (min)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az-Latn-A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Nargiz Hasanov</c:v>
                </c:pt>
                <c:pt idx="1">
                  <c:v>Vugar Garavaliyev</c:v>
                </c:pt>
                <c:pt idx="2">
                  <c:v>Orkhan Garavaliyev</c:v>
                </c:pt>
                <c:pt idx="3">
                  <c:v>Aysel Mehdiyev</c:v>
                </c:pt>
                <c:pt idx="4">
                  <c:v>Vugar Valiyev</c:v>
                </c:pt>
                <c:pt idx="5">
                  <c:v>Kamran Garavaliyev</c:v>
                </c:pt>
                <c:pt idx="6">
                  <c:v>Elvin Muradov</c:v>
                </c:pt>
                <c:pt idx="7">
                  <c:v>Samir Hasanov</c:v>
                </c:pt>
                <c:pt idx="8">
                  <c:v>Nigar Karimov</c:v>
                </c:pt>
                <c:pt idx="9">
                  <c:v>Kamran Valiyev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342</c:v>
                </c:pt>
                <c:pt idx="1">
                  <c:v>213</c:v>
                </c:pt>
                <c:pt idx="2">
                  <c:v>202</c:v>
                </c:pt>
                <c:pt idx="3">
                  <c:v>196</c:v>
                </c:pt>
                <c:pt idx="4">
                  <c:v>196</c:v>
                </c:pt>
                <c:pt idx="5">
                  <c:v>188</c:v>
                </c:pt>
                <c:pt idx="6">
                  <c:v>184</c:v>
                </c:pt>
                <c:pt idx="7">
                  <c:v>179</c:v>
                </c:pt>
                <c:pt idx="8">
                  <c:v>164</c:v>
                </c:pt>
                <c:pt idx="9">
                  <c:v>158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4B-4BB4-860D-37C57964A2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 Overage (MB)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az-Latn-A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Emin Taghiyev</c:v>
                </c:pt>
                <c:pt idx="1">
                  <c:v>Emin Mehdiyev</c:v>
                </c:pt>
                <c:pt idx="2">
                  <c:v>Orkhan Mammadova</c:v>
                </c:pt>
                <c:pt idx="3">
                  <c:v>Anar Mehdiyev</c:v>
                </c:pt>
                <c:pt idx="4">
                  <c:v>Farid Suleymanov</c:v>
                </c:pt>
                <c:pt idx="5">
                  <c:v>Gunel Mammadova</c:v>
                </c:pt>
                <c:pt idx="6">
                  <c:v>Tural Guliyev</c:v>
                </c:pt>
                <c:pt idx="7">
                  <c:v>Gunel Aliyev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4782</c:v>
                </c:pt>
                <c:pt idx="1">
                  <c:v>4137</c:v>
                </c:pt>
                <c:pt idx="2">
                  <c:v>3544</c:v>
                </c:pt>
                <c:pt idx="3">
                  <c:v>3302</c:v>
                </c:pt>
                <c:pt idx="4">
                  <c:v>2897</c:v>
                </c:pt>
                <c:pt idx="5">
                  <c:v>1855</c:v>
                </c:pt>
                <c:pt idx="6">
                  <c:v>1763</c:v>
                </c:pt>
                <c:pt idx="7">
                  <c:v>1375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17-4A4D-9BE7-57E227C70F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(₼)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az-Latn-A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Ultimate Data</c:v>
                </c:pt>
                <c:pt idx="1">
                  <c:v>Talk &amp; Text</c:v>
                </c:pt>
                <c:pt idx="2">
                  <c:v>Eko Plan</c:v>
                </c:pt>
                <c:pt idx="3">
                  <c:v>VIP Global</c:v>
                </c:pt>
                <c:pt idx="4">
                  <c:v>Weekend Fun</c:v>
                </c:pt>
                <c:pt idx="5">
                  <c:v>Premium Max</c:v>
                </c:pt>
                <c:pt idx="6">
                  <c:v>Corporate Elite</c:v>
                </c:pt>
                <c:pt idx="7">
                  <c:v>Gold Business</c:v>
                </c:pt>
                <c:pt idx="8">
                  <c:v>Platinum Premium</c:v>
                </c:pt>
                <c:pt idx="9">
                  <c:v>Mini Tarif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3093</c:v>
                </c:pt>
                <c:pt idx="1">
                  <c:v>1960</c:v>
                </c:pt>
                <c:pt idx="2">
                  <c:v>1884</c:v>
                </c:pt>
                <c:pt idx="3">
                  <c:v>1826</c:v>
                </c:pt>
                <c:pt idx="4">
                  <c:v>1821</c:v>
                </c:pt>
                <c:pt idx="5">
                  <c:v>1419</c:v>
                </c:pt>
                <c:pt idx="6">
                  <c:v>1362</c:v>
                </c:pt>
                <c:pt idx="7">
                  <c:v>1339</c:v>
                </c:pt>
                <c:pt idx="8">
                  <c:v>1179</c:v>
                </c:pt>
                <c:pt idx="9">
                  <c:v>1173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ED-4CD6-9286-6C9D684144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95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29E-4D0B-9BB1-8BF0F4894EEC}"/>
              </c:ext>
            </c:extLst>
          </c:dPt>
          <c:dPt>
            <c:idx val="1"/>
            <c:bubble3D val="0"/>
            <c:spPr>
              <a:solidFill>
                <a:srgbClr val="C0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29E-4D0B-9BB1-8BF0F4894EEC}"/>
              </c:ext>
            </c:extLst>
          </c:dPt>
          <c:dPt>
            <c:idx val="2"/>
            <c:bubble3D val="0"/>
            <c:spPr>
              <a:solidFill>
                <a:srgbClr val="F2C1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29E-4D0B-9BB1-8BF0F4894EE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az-Latn-AZ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29E-4D0B-9BB1-8BF0F4894EE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az-Latn-AZ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29E-4D0B-9BB1-8BF0F4894EE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az-Latn-AZ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29E-4D0B-9BB1-8BF0F4894EE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az-Latn-AZ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Paid on Time</c:v>
                </c:pt>
                <c:pt idx="1">
                  <c:v>Unpaid</c:v>
                </c:pt>
                <c:pt idx="2">
                  <c:v>Late Paid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265</c:v>
                </c:pt>
                <c:pt idx="1">
                  <c:v>98</c:v>
                </c:pt>
                <c:pt idx="2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29E-4D0B-9BB1-8BF0F4894E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Debt (₼)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az-Latn-A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Orkhan Garavaliyev</c:v>
                </c:pt>
                <c:pt idx="1">
                  <c:v>Farid Huseynov</c:v>
                </c:pt>
                <c:pt idx="2">
                  <c:v>Farid Karimov</c:v>
                </c:pt>
                <c:pt idx="3">
                  <c:v>Vugar Garavaliyev</c:v>
                </c:pt>
                <c:pt idx="4">
                  <c:v>Rashad Abbasov</c:v>
                </c:pt>
                <c:pt idx="5">
                  <c:v>Rashad Karimov</c:v>
                </c:pt>
                <c:pt idx="6">
                  <c:v>Leyla Taghiyev</c:v>
                </c:pt>
                <c:pt idx="7">
                  <c:v>Farid Suleymanov</c:v>
                </c:pt>
                <c:pt idx="8">
                  <c:v>Anar Mehdiyev</c:v>
                </c:pt>
                <c:pt idx="9">
                  <c:v>Emin Karimov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429.5</c:v>
                </c:pt>
                <c:pt idx="1">
                  <c:v>250.09</c:v>
                </c:pt>
                <c:pt idx="2">
                  <c:v>237.75</c:v>
                </c:pt>
                <c:pt idx="3">
                  <c:v>205.49</c:v>
                </c:pt>
                <c:pt idx="4">
                  <c:v>190.61</c:v>
                </c:pt>
                <c:pt idx="5">
                  <c:v>184.57</c:v>
                </c:pt>
                <c:pt idx="6">
                  <c:v>180.78</c:v>
                </c:pt>
                <c:pt idx="7">
                  <c:v>170.16</c:v>
                </c:pt>
                <c:pt idx="8">
                  <c:v>166.14</c:v>
                </c:pt>
                <c:pt idx="9">
                  <c:v>158.5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CA-43C2-80CA-5E7B0B7DA06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41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114800" cy="4114800"/>
          </a:xfrm>
          <a:prstGeom prst="ellipse">
            <a:avLst/>
          </a:prstGeom>
          <a:solidFill>
            <a:srgbClr val="2E9599">
              <a:alpha val="20000"/>
            </a:srgbClr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3" name="Shape 1"/>
          <p:cNvSpPr/>
          <p:nvPr/>
        </p:nvSpPr>
        <p:spPr>
          <a:xfrm>
            <a:off x="-1097280" y="4754880"/>
            <a:ext cx="3474720" cy="3474720"/>
          </a:xfrm>
          <a:prstGeom prst="ellipse">
            <a:avLst/>
          </a:prstGeom>
          <a:solidFill>
            <a:srgbClr val="ED7D31">
              <a:alpha val="15000"/>
            </a:srgbClr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2E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ANALYTICS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Subscriber Behavior &amp;</a:t>
            </a:r>
            <a:endParaRPr lang="en-US" sz="44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Churn Risk Analysis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the subscriber base, network usage, and payment discipline with Oracle SQL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4800600"/>
            <a:ext cx="2011680" cy="0"/>
          </a:xfrm>
          <a:prstGeom prst="line">
            <a:avLst/>
          </a:prstGeom>
          <a:noFill/>
          <a:ln w="3175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az-Latn-AZ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Babak Suleymanov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E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Was Analyzed?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2F6F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z-Latn-AZ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39572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5544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2F6F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z-Latn-AZ"/>
          </a:p>
        </p:txBody>
      </p:sp>
      <p:sp>
        <p:nvSpPr>
          <p:cNvPr id="8" name="Text 6"/>
          <p:cNvSpPr/>
          <p:nvPr/>
        </p:nvSpPr>
        <p:spPr>
          <a:xfrm>
            <a:off x="3383280" y="16916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383280" y="239572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 Plans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5544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2F6F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z-Latn-AZ"/>
          </a:p>
        </p:txBody>
      </p:sp>
      <p:sp>
        <p:nvSpPr>
          <p:cNvPr id="11" name="Text 9"/>
          <p:cNvSpPr/>
          <p:nvPr/>
        </p:nvSpPr>
        <p:spPr>
          <a:xfrm>
            <a:off x="6126480" y="16916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E95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126480" y="239572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Records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69680" y="15544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2F6F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z-Latn-AZ"/>
          </a:p>
        </p:txBody>
      </p:sp>
      <p:sp>
        <p:nvSpPr>
          <p:cNvPr id="14" name="Text 12"/>
          <p:cNvSpPr/>
          <p:nvPr/>
        </p:nvSpPr>
        <p:spPr>
          <a:xfrm>
            <a:off x="8869680" y="16916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D7D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450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869680" y="239572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Analysis Stages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3794760"/>
            <a:ext cx="502920" cy="502920"/>
          </a:xfrm>
          <a:prstGeom prst="ellipse">
            <a:avLst/>
          </a:prstGeom>
          <a:solidFill>
            <a:srgbClr val="2E9599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18" name="Text 16"/>
          <p:cNvSpPr/>
          <p:nvPr/>
        </p:nvSpPr>
        <p:spPr>
          <a:xfrm>
            <a:off x="64008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3794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Analysis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4434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geography, age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83280" y="3794760"/>
            <a:ext cx="502920" cy="502920"/>
          </a:xfrm>
          <a:prstGeom prst="ellipse">
            <a:avLst/>
          </a:prstGeom>
          <a:solidFill>
            <a:srgbClr val="2E9599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22" name="Text 20"/>
          <p:cNvSpPr/>
          <p:nvPr/>
        </p:nvSpPr>
        <p:spPr>
          <a:xfrm>
            <a:off x="338328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023360" y="3794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Traffic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83280" y="4434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Calls, internet, plan limits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26480" y="3794760"/>
            <a:ext cx="502920" cy="502920"/>
          </a:xfrm>
          <a:prstGeom prst="ellipse">
            <a:avLst/>
          </a:prstGeom>
          <a:solidFill>
            <a:srgbClr val="2E9599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26" name="Text 24"/>
          <p:cNvSpPr/>
          <p:nvPr/>
        </p:nvSpPr>
        <p:spPr>
          <a:xfrm>
            <a:off x="612648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766560" y="3794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Discipline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26480" y="4434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debt, payments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869680" y="3794760"/>
            <a:ext cx="502920" cy="502920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30" name="Text 28"/>
          <p:cNvSpPr/>
          <p:nvPr/>
        </p:nvSpPr>
        <p:spPr>
          <a:xfrm>
            <a:off x="886968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509760" y="3794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Risk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869680" y="4434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customers likely to leave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5440680"/>
            <a:ext cx="10881360" cy="1170432"/>
          </a:xfrm>
          <a:prstGeom prst="rect">
            <a:avLst/>
          </a:prstGeom>
          <a:solidFill>
            <a:srgbClr val="F2F6FB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34" name="Shape 32"/>
          <p:cNvSpPr/>
          <p:nvPr/>
        </p:nvSpPr>
        <p:spPr>
          <a:xfrm>
            <a:off x="640080" y="5440680"/>
            <a:ext cx="82296" cy="1170432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35" name="Text 33"/>
          <p:cNvSpPr/>
          <p:nvPr/>
        </p:nvSpPr>
        <p:spPr>
          <a:xfrm>
            <a:off x="868680" y="5486400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was extracted from the database via SQL and visualized in Excel.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68680" y="5980176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ultimate goal: proactively identify customers at risk of leaving the company.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E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PROFILE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Subscribers &amp; Status by City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463040"/>
          <a:ext cx="109728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212080"/>
            <a:ext cx="10881360" cy="1170432"/>
          </a:xfrm>
          <a:prstGeom prst="rect">
            <a:avLst/>
          </a:prstGeom>
          <a:solidFill>
            <a:srgbClr val="F2F6FB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6" name="Shape 3"/>
          <p:cNvSpPr/>
          <p:nvPr/>
        </p:nvSpPr>
        <p:spPr>
          <a:xfrm>
            <a:off x="640080" y="5212080"/>
            <a:ext cx="82296" cy="1170432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7" name="Text 4"/>
          <p:cNvSpPr/>
          <p:nvPr/>
        </p:nvSpPr>
        <p:spPr>
          <a:xfrm>
            <a:off x="868680" y="5257800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Mingachevir, Baku, and Sumqayit have the most active subscribers; Ganja shows a high number of suspended customers (4).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68680" y="5751576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Ganja regionally and launch a win-back campaign; protect loyalty in the strongest cities.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E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PROFILE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Group Distribution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097280" y="1463040"/>
          <a:ext cx="54864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920240"/>
          <a:ext cx="4389120" cy="2057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Group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Middle-Aged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40080" y="5212080"/>
            <a:ext cx="10881360" cy="1170432"/>
          </a:xfrm>
          <a:prstGeom prst="rect">
            <a:avLst/>
          </a:prstGeom>
          <a:solidFill>
            <a:srgbClr val="F2F6FB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7" name="Shape 3"/>
          <p:cNvSpPr/>
          <p:nvPr/>
        </p:nvSpPr>
        <p:spPr>
          <a:xfrm>
            <a:off x="640080" y="5212080"/>
            <a:ext cx="82296" cy="1170432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8" name="Text 4"/>
          <p:cNvSpPr/>
          <p:nvPr/>
        </p:nvSpPr>
        <p:spPr>
          <a:xfrm>
            <a:off x="868680" y="5257800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(50%) of the base is Middle-Aged; Seniors are a strong, loyal segment (41%); the Youth segment is small (9%).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868680" y="5751576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youth with social-media campaigns and student plans; give the Middle-Aged segment personalized service.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E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PROFILE ANALYSIS  ·  NEW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Subscriber Trend by Year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554480"/>
          <a:ext cx="77724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686800" y="1828800"/>
            <a:ext cx="2834640" cy="1371600"/>
          </a:xfrm>
          <a:prstGeom prst="roundRect">
            <a:avLst>
              <a:gd name="adj" fmla="val 5333"/>
            </a:avLst>
          </a:prstGeom>
          <a:solidFill>
            <a:srgbClr val="C00000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6" name="Text 3"/>
          <p:cNvSpPr/>
          <p:nvPr/>
        </p:nvSpPr>
        <p:spPr>
          <a:xfrm>
            <a:off x="8686800" y="19659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▼ 2023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686800" y="2560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point (11)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686800" y="3383280"/>
            <a:ext cx="2834640" cy="1371600"/>
          </a:xfrm>
          <a:prstGeom prst="roundRect">
            <a:avLst>
              <a:gd name="adj" fmla="val 5333"/>
            </a:avLst>
          </a:prstGeom>
          <a:solidFill>
            <a:srgbClr val="2E9599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9" name="Text 6"/>
          <p:cNvSpPr/>
          <p:nvPr/>
        </p:nvSpPr>
        <p:spPr>
          <a:xfrm>
            <a:off x="8686800" y="35204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▲ Recovery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686800" y="4114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2024-2025 rising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5212080"/>
            <a:ext cx="10881360" cy="1170432"/>
          </a:xfrm>
          <a:prstGeom prst="rect">
            <a:avLst/>
          </a:prstGeom>
          <a:solidFill>
            <a:srgbClr val="F2F6FB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12" name="Shape 9"/>
          <p:cNvSpPr/>
          <p:nvPr/>
        </p:nvSpPr>
        <p:spPr>
          <a:xfrm>
            <a:off x="640080" y="5212080"/>
            <a:ext cx="82296" cy="1170432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13" name="Text 10"/>
          <p:cNvSpPr/>
          <p:nvPr/>
        </p:nvSpPr>
        <p:spPr>
          <a:xfrm>
            <a:off x="868680" y="5257800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peaked in 2021 (21), dipped in 2023 (11), and is recovering in 2024-2025.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68680" y="5751576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2022-2023 decline and reinforce the campaigns driving the current recovery.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E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PROFILE ANALYSIS  ·  NEW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Tenure by Status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45920"/>
          <a:ext cx="59436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645920"/>
            <a:ext cx="4572000" cy="3108960"/>
          </a:xfrm>
          <a:prstGeom prst="roundRect">
            <a:avLst>
              <a:gd name="adj" fmla="val 2941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6" name="Text 3"/>
          <p:cNvSpPr/>
          <p:nvPr/>
        </p:nvSpPr>
        <p:spPr>
          <a:xfrm>
            <a:off x="7132320" y="1828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D7D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The Paradox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132320" y="237744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get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suspended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have actually been with us </a:t>
            </a:r>
            <a:r>
              <a:rPr lang="en-US" sz="15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active customers.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132320" y="4069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is not about tenure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5212080"/>
            <a:ext cx="10881360" cy="1170432"/>
          </a:xfrm>
          <a:prstGeom prst="rect">
            <a:avLst/>
          </a:prstGeom>
          <a:solidFill>
            <a:srgbClr val="F2F6FB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10" name="Shape 7"/>
          <p:cNvSpPr/>
          <p:nvPr/>
        </p:nvSpPr>
        <p:spPr>
          <a:xfrm>
            <a:off x="640080" y="5212080"/>
            <a:ext cx="82296" cy="1170432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11" name="Text 8"/>
          <p:cNvSpPr/>
          <p:nvPr/>
        </p:nvSpPr>
        <p:spPr>
          <a:xfrm>
            <a:off x="868680" y="5257800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(3.3 yrs) and Suspended (3.5 yrs) customers have longer tenure than Active ones (2.7 yrs) which means long tenure alone does not guarantee loyalty.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68680" y="5751576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loyalty rewards, periodic plan-refresh offers, and loyalty discounts for long-standing customers.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E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PROFILE ANALYSIS  ·  NEW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Churn Rate by Age Group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45920"/>
          <a:ext cx="68580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73736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C00000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6" name="Text 3"/>
          <p:cNvSpPr/>
          <p:nvPr/>
        </p:nvSpPr>
        <p:spPr>
          <a:xfrm>
            <a:off x="7863840" y="18745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17.5%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863840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Middle-Aged — highest risk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863840" y="329184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2E9599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9" name="Text 6"/>
          <p:cNvSpPr/>
          <p:nvPr/>
        </p:nvSpPr>
        <p:spPr>
          <a:xfrm>
            <a:off x="7863840" y="34290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6.1%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86384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Seniors — most loyal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5212080"/>
            <a:ext cx="10881360" cy="1170432"/>
          </a:xfrm>
          <a:prstGeom prst="rect">
            <a:avLst/>
          </a:prstGeom>
          <a:solidFill>
            <a:srgbClr val="F2F6FB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12" name="Shape 9"/>
          <p:cNvSpPr/>
          <p:nvPr/>
        </p:nvSpPr>
        <p:spPr>
          <a:xfrm>
            <a:off x="640080" y="5212080"/>
            <a:ext cx="82296" cy="1170432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13" name="Text 10"/>
          <p:cNvSpPr/>
          <p:nvPr/>
        </p:nvSpPr>
        <p:spPr>
          <a:xfrm>
            <a:off x="868680" y="5257800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Middle-Aged group churns the most (17.5%) and is also the largest segment, while Seniors are the most loyal (6.1%).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68680" y="5751576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retention efforts on the Middle-Aged group , the biggest risk and the biggest base.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E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Status &amp; Gender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Distribution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1691640"/>
          <a:ext cx="53035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Distribution</a:t>
            </a:r>
            <a:endParaRPr lang="en-US" sz="15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309360" y="1691640"/>
          <a:ext cx="53035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5212080"/>
            <a:ext cx="10881360" cy="1170432"/>
          </a:xfrm>
          <a:prstGeom prst="rect">
            <a:avLst/>
          </a:prstGeom>
          <a:solidFill>
            <a:srgbClr val="F2F6FB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9" name="Shape 5"/>
          <p:cNvSpPr/>
          <p:nvPr/>
        </p:nvSpPr>
        <p:spPr>
          <a:xfrm>
            <a:off x="640080" y="5212080"/>
            <a:ext cx="82296" cy="1170432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10" name="Text 6"/>
          <p:cNvSpPr/>
          <p:nvPr/>
        </p:nvSpPr>
        <p:spPr>
          <a:xfrm>
            <a:off x="868680" y="5257800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 are Active, but 36% are Suspended or Churned , one in three customers is in a problematic state. Males dominate (73%).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68680" y="5751576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winning back Suspended customers (easier than Churned); explore marketing to grow the female share.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E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USAGE TRAFFIC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10 Most Active Customers (Talk Minutes)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463040"/>
          <a:ext cx="109728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212080"/>
            <a:ext cx="10881360" cy="1170432"/>
          </a:xfrm>
          <a:prstGeom prst="rect">
            <a:avLst/>
          </a:prstGeom>
          <a:solidFill>
            <a:srgbClr val="F2F6FB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6" name="Shape 3"/>
          <p:cNvSpPr/>
          <p:nvPr/>
        </p:nvSpPr>
        <p:spPr>
          <a:xfrm>
            <a:off x="640080" y="5212080"/>
            <a:ext cx="82296" cy="1170432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7" name="Text 4"/>
          <p:cNvSpPr/>
          <p:nvPr/>
        </p:nvSpPr>
        <p:spPr>
          <a:xfrm>
            <a:off x="868680" y="5257800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active customers are the company's most valuable segment; losing them directly impacts revenue.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68680" y="5751576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account managers and offer exclusive loyalty perks to these top customers.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E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USAGE TRAFFIC  ·  NEW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Usage Overage — Upsell Opportunity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F2F6FB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exceeded VOICE limit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ED7D31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40690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exceeded DATA limit</a:t>
            </a:r>
            <a:endParaRPr lang="en-US" sz="12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3383280" y="1463040"/>
          <a:ext cx="81381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640080" y="5212080"/>
            <a:ext cx="10881360" cy="1170432"/>
          </a:xfrm>
          <a:prstGeom prst="rect">
            <a:avLst/>
          </a:prstGeom>
          <a:solidFill>
            <a:srgbClr val="F2F6FB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12" name="Shape 9"/>
          <p:cNvSpPr/>
          <p:nvPr/>
        </p:nvSpPr>
        <p:spPr>
          <a:xfrm>
            <a:off x="640080" y="5212080"/>
            <a:ext cx="82296" cy="1170432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13" name="Text 10"/>
          <p:cNvSpPr/>
          <p:nvPr/>
        </p:nvSpPr>
        <p:spPr>
          <a:xfrm>
            <a:off x="868680" y="5257800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customers exceeded their data limit , 4x more than voice. The heaviest are stuck on small plans like 'Eko Plan'.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68680" y="5751576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Auto-offer larger data packages to these 16 customers ,the single biggest upsell opportunity in the base.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E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· FINANCIAL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by Tariff Plan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463040"/>
          <a:ext cx="75895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1737360"/>
            <a:ext cx="3017520" cy="1280160"/>
          </a:xfrm>
          <a:prstGeom prst="roundRect">
            <a:avLst>
              <a:gd name="adj" fmla="val 5714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6" name="Text 3"/>
          <p:cNvSpPr/>
          <p:nvPr/>
        </p:nvSpPr>
        <p:spPr>
          <a:xfrm>
            <a:off x="8503920" y="18745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3,093 ₼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503920" y="2423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Ultimate Data — leader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503920" y="3200400"/>
            <a:ext cx="3017520" cy="1280160"/>
          </a:xfrm>
          <a:prstGeom prst="roundRect">
            <a:avLst>
              <a:gd name="adj" fmla="val 5714"/>
            </a:avLst>
          </a:prstGeom>
          <a:solidFill>
            <a:srgbClr val="2E9599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9" name="Text 6"/>
          <p:cNvSpPr/>
          <p:nvPr/>
        </p:nvSpPr>
        <p:spPr>
          <a:xfrm>
            <a:off x="8503920" y="3337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23,683 ₼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503920" y="3886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5212080"/>
            <a:ext cx="10881360" cy="1170432"/>
          </a:xfrm>
          <a:prstGeom prst="rect">
            <a:avLst/>
          </a:prstGeom>
          <a:solidFill>
            <a:srgbClr val="F2F6FB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12" name="Shape 9"/>
          <p:cNvSpPr/>
          <p:nvPr/>
        </p:nvSpPr>
        <p:spPr>
          <a:xfrm>
            <a:off x="640080" y="5212080"/>
            <a:ext cx="82296" cy="1170432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13" name="Text 10"/>
          <p:cNvSpPr/>
          <p:nvPr/>
        </p:nvSpPr>
        <p:spPr>
          <a:xfrm>
            <a:off x="868680" y="5257800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'Ultimate Data' leads revenue (3,093 ₼); the top 3 plans drive most of the total - a concentration risk.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68680" y="5751576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customers on these golden plans and develop new data-centric packages.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E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· FINANCIAL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Status Distribution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097280" y="1463040"/>
          <a:ext cx="54864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2103120"/>
          <a:ext cx="4389120" cy="18288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on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Unpaid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Paid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40080" y="5212080"/>
            <a:ext cx="10881360" cy="1170432"/>
          </a:xfrm>
          <a:prstGeom prst="rect">
            <a:avLst/>
          </a:prstGeom>
          <a:solidFill>
            <a:srgbClr val="F2F6FB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7" name="Shape 3"/>
          <p:cNvSpPr/>
          <p:nvPr/>
        </p:nvSpPr>
        <p:spPr>
          <a:xfrm>
            <a:off x="640080" y="5212080"/>
            <a:ext cx="82296" cy="1170432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8" name="Text 4"/>
          <p:cNvSpPr/>
          <p:nvPr/>
        </p:nvSpPr>
        <p:spPr>
          <a:xfrm>
            <a:off x="868680" y="5257800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 of invoices are paid on time, but 41% are problematic (22% unpaid + 19% late) - a cash-flow risk.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868680" y="5751576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auto-pay with a discount, pre-due reminders, and a light late-payment policy.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E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· FINANCIAL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10 Customers by Debt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463040"/>
          <a:ext cx="84124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9326880" y="2286000"/>
            <a:ext cx="2194560" cy="1645920"/>
          </a:xfrm>
          <a:prstGeom prst="roundRect">
            <a:avLst>
              <a:gd name="adj" fmla="val 4444"/>
            </a:avLst>
          </a:prstGeom>
          <a:solidFill>
            <a:srgbClr val="C00000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6" name="Text 3"/>
          <p:cNvSpPr/>
          <p:nvPr/>
        </p:nvSpPr>
        <p:spPr>
          <a:xfrm>
            <a:off x="9326880" y="2514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5,260 ₼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9326880" y="3154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debt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5212080"/>
            <a:ext cx="10881360" cy="1170432"/>
          </a:xfrm>
          <a:prstGeom prst="rect">
            <a:avLst/>
          </a:prstGeom>
          <a:solidFill>
            <a:srgbClr val="F2F6FB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9" name="Shape 6"/>
          <p:cNvSpPr/>
          <p:nvPr/>
        </p:nvSpPr>
        <p:spPr>
          <a:xfrm>
            <a:off x="640080" y="5212080"/>
            <a:ext cx="82296" cy="1170432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10" name="Text 7"/>
          <p:cNvSpPr/>
          <p:nvPr/>
        </p:nvSpPr>
        <p:spPr>
          <a:xfrm>
            <a:off x="868680" y="5257800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debt is 5,260 ₼; the largest debtor owes 429 ₼.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68680" y="5751576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phased collection: automated reminders → personal contact → flexible payment plan.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· FINAL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 Churn Risk — Customers About to Leave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017520" cy="3337560"/>
          </a:xfrm>
          <a:prstGeom prst="roundRect">
            <a:avLst>
              <a:gd name="adj" fmla="val 3030"/>
            </a:avLst>
          </a:prstGeom>
          <a:solidFill>
            <a:srgbClr val="2A4A7F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ED7D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still appear
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"Active"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0" y="1554480"/>
          <a:ext cx="7498080" cy="30632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Ramil Gasimov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Baku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Nigar Mehdiyev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Baku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Nigar Valiyev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Sumqayit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Gunel Aliyev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Shirvan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Ilkin Huseynov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Khankendi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Vugar Mehdiyev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Lankaran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Zaur Mehdiyev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Yevlakh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Orkhan Garavaliyev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Lankaran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Vugar Mehdiyev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Nakhchivan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8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5212080"/>
            <a:ext cx="10881360" cy="1051560"/>
          </a:xfrm>
          <a:prstGeom prst="rect">
            <a:avLst/>
          </a:prstGeom>
          <a:solidFill>
            <a:srgbClr val="2A4A7F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10" name="Shape 7"/>
          <p:cNvSpPr/>
          <p:nvPr/>
        </p:nvSpPr>
        <p:spPr>
          <a:xfrm>
            <a:off x="640080" y="5212080"/>
            <a:ext cx="91440" cy="1051560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11" name="Text 8"/>
          <p:cNvSpPr/>
          <p:nvPr/>
        </p:nvSpPr>
        <p:spPr>
          <a:xfrm>
            <a:off x="914400" y="521208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these customers still show 'Active’ - standard status reporting hides the risk. 2 are already Churned; the remaining 7 can still be saved. Marketing must contact this list immediately.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E9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Consolidated Recommendations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2F6FB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5" name="Shape 3"/>
          <p:cNvSpPr/>
          <p:nvPr/>
        </p:nvSpPr>
        <p:spPr>
          <a:xfrm>
            <a:off x="868680" y="1901952"/>
            <a:ext cx="502920" cy="502920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6" name="Text 4"/>
          <p:cNvSpPr/>
          <p:nvPr/>
        </p:nvSpPr>
        <p:spPr>
          <a:xfrm>
            <a:off x="868680" y="1901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65506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Churn Management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54480" y="20116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the 9 at-risk customers now - prioritize the 4 hidden 'Active' ones.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508760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2F6FB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10" name="Shape 8"/>
          <p:cNvSpPr/>
          <p:nvPr/>
        </p:nvSpPr>
        <p:spPr>
          <a:xfrm>
            <a:off x="6400800" y="1901952"/>
            <a:ext cx="502920" cy="50292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11" name="Text 9"/>
          <p:cNvSpPr/>
          <p:nvPr/>
        </p:nvSpPr>
        <p:spPr>
          <a:xfrm>
            <a:off x="6400800" y="1901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86600" y="165506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Collection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086600" y="20116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reminders + payment plans to recover the 5,260 ₼ outstanding.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971800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2F6FB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15" name="Shape 13"/>
          <p:cNvSpPr/>
          <p:nvPr/>
        </p:nvSpPr>
        <p:spPr>
          <a:xfrm>
            <a:off x="868680" y="3364992"/>
            <a:ext cx="502920" cy="502920"/>
          </a:xfrm>
          <a:prstGeom prst="ellipse">
            <a:avLst/>
          </a:prstGeom>
          <a:solidFill>
            <a:srgbClr val="2E9599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16" name="Text 14"/>
          <p:cNvSpPr/>
          <p:nvPr/>
        </p:nvSpPr>
        <p:spPr>
          <a:xfrm>
            <a:off x="868680" y="3364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311810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Upsell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54480" y="347472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the 16 data-overage customers to larger plans - biggest upsell.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2971800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2F6FB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20" name="Shape 18"/>
          <p:cNvSpPr/>
          <p:nvPr/>
        </p:nvSpPr>
        <p:spPr>
          <a:xfrm>
            <a:off x="6400800" y="3364992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21" name="Text 19"/>
          <p:cNvSpPr/>
          <p:nvPr/>
        </p:nvSpPr>
        <p:spPr>
          <a:xfrm>
            <a:off x="6400800" y="3364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86600" y="311810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Refresh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86600" y="347472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Long-tenure customers also churn; add loyalty rewards &amp; plan refreshes.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434840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2F6FB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25" name="Shape 23"/>
          <p:cNvSpPr/>
          <p:nvPr/>
        </p:nvSpPr>
        <p:spPr>
          <a:xfrm>
            <a:off x="868680" y="4828032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26" name="Text 24"/>
          <p:cNvSpPr/>
          <p:nvPr/>
        </p:nvSpPr>
        <p:spPr>
          <a:xfrm>
            <a:off x="868680" y="4828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54480" y="458114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Focus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554480" y="493776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Ganja's high suspension rate; check service quality.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4434840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2F6FB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30" name="Shape 28"/>
          <p:cNvSpPr/>
          <p:nvPr/>
        </p:nvSpPr>
        <p:spPr>
          <a:xfrm>
            <a:off x="6400800" y="4828032"/>
            <a:ext cx="502920" cy="502920"/>
          </a:xfrm>
          <a:prstGeom prst="ellipse">
            <a:avLst/>
          </a:prstGeom>
          <a:solidFill>
            <a:srgbClr val="2E9599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31" name="Text 29"/>
          <p:cNvSpPr/>
          <p:nvPr/>
        </p:nvSpPr>
        <p:spPr>
          <a:xfrm>
            <a:off x="6400800" y="4828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086600" y="458114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Acquisition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086600" y="493776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small youth segment with campaigns and student plans.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2E9599">
              <a:alpha val="20000"/>
            </a:srgbClr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3" name="Shape 1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ED7D31">
              <a:alpha val="15000"/>
            </a:srgbClr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5204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41605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Babak Suleymanov  ·  Oracle SQL Project  · 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1013</Words>
  <Application>Microsoft Office PowerPoint</Application>
  <PresentationFormat>Widescreen</PresentationFormat>
  <Paragraphs>221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 Subscribers — Churn Analytics</dc:title>
  <dc:subject>PptxGenJS Presentation</dc:subject>
  <dc:creator>Babak Suleymanov</dc:creator>
  <cp:lastModifiedBy>Babak Suleymanov</cp:lastModifiedBy>
  <cp:revision>2</cp:revision>
  <dcterms:created xsi:type="dcterms:W3CDTF">2026-06-02T05:38:49Z</dcterms:created>
  <dcterms:modified xsi:type="dcterms:W3CDTF">2026-06-02T05:44:41Z</dcterms:modified>
</cp:coreProperties>
</file>